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1" r:id="rId9"/>
    <p:sldId id="262" r:id="rId10"/>
    <p:sldId id="260" r:id="rId11"/>
    <p:sldId id="263" r:id="rId12"/>
    <p:sldId id="268" r:id="rId13"/>
    <p:sldId id="266" r:id="rId14"/>
    <p:sldId id="265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64" r:id="rId2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300D0-5EEF-42F7-9211-BDB0FA7F47B1}" v="36" dt="2026-08-06T11:57:18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151C9-D0AB-46D5-A4C7-C2DA83D36A9E}" type="datetimeFigureOut">
              <a:rPr lang="el-GR" smtClean="0"/>
              <a:t>6/8/2026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2C70A1-8B1B-444E-9C7C-F4E19133557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3565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AAD3-651D-E43B-EB33-2EAF62BB3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4C73D-9600-C979-3ECF-979D39D19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C05E-36E1-87C3-0F39-DF59ECA3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6D4D-F1B3-4689-B1BE-9ED28224CE18}" type="datetime1">
              <a:rPr lang="el-GR" smtClean="0"/>
              <a:t>6/8/2026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2FA2-500D-36C2-BE17-85BB786BB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6D67B-CDCB-C92C-7BC4-D7B1C439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fld id="{1F586D06-98B3-4E66-9B88-29B923600892}" type="slidenum">
              <a:rPr lang="el-GR" smtClean="0"/>
              <a:pPr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19982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383F-E11C-ED07-94AB-E2F72B63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15AF-FB99-3C0A-A501-DCC5E67E4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30C87-27F4-D3FC-C137-D7428F9B4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595CE-5C0C-4F1E-B45C-5E2D5F619AE3}" type="datetime1">
              <a:rPr lang="el-GR" smtClean="0"/>
              <a:t>6/8/2026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0B41F-4889-16AB-5395-BC033BFC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231F1-D06A-FC2D-2393-7AED5D41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0160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55152-8E89-8A9A-097E-D43C014F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4B3E0-0C07-9983-EF93-6F058757B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F72A0-FFF0-1F02-710D-26F32675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C3EE-F797-4012-B7EB-6B918918457C}" type="datetime1">
              <a:rPr lang="el-GR" smtClean="0"/>
              <a:t>6/8/2026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1F817-2565-1962-5634-6E107976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ACA0B-6620-8196-6D40-223F14D39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8748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AD5F-80A7-F61B-E735-468B5181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AD4C4-2566-8258-4245-01392B95D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BE68A-B6E4-756A-E5C3-6776B20D3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F0561-A22B-FFC5-2658-88B03B3A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9D2A6-766F-453A-8F92-05135979B3B9}" type="datetime1">
              <a:rPr lang="el-GR" smtClean="0"/>
              <a:t>6/8/2026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C24A8-8311-7CE1-7144-81D3D28C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755F9-9E4D-BD00-712F-1048CDAC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30328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68C3D-0BDB-C492-81C0-1571DE1DE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5E0CA-E461-44E1-6D7D-8EEC8F5B5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98471-C161-09C0-AADA-C957D3AFE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8D17B-48B1-9D3E-3BFC-CCA288BAD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C2981-AED6-A583-C91D-7D45E0068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197F6-4AFB-7B50-47C8-9BED807E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07EE2-C3DA-468D-BD9E-DDC78042E0F5}" type="datetime1">
              <a:rPr lang="el-GR" smtClean="0"/>
              <a:t>6/8/2026</a:t>
            </a:fld>
            <a:endParaRPr lang="el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04D86-922C-D2AE-BB21-4AB2F013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36AA1-0C2B-6D9F-8B02-DE5BCCA5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1443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55C5-BF8E-40ED-F6B8-D01FF2A26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C6876-1E8C-DE30-E621-05D815BD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BE14B-5B09-4A06-9D2B-3946CB15E7E9}" type="datetime1">
              <a:rPr lang="el-GR" smtClean="0"/>
              <a:t>6/8/2026</a:t>
            </a:fld>
            <a:endParaRPr lang="el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1368CE-4FA6-2038-BD03-2713D924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409E6-D2E5-6A43-9A8D-A4FA8F3C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0796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E65D8-240F-92F7-3381-8BE92F1DB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32DED-0D06-4546-847A-5CD7AAF15F2C}" type="datetime1">
              <a:rPr lang="el-GR" smtClean="0"/>
              <a:t>6/8/2026</a:t>
            </a:fld>
            <a:endParaRPr lang="el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37B78-7654-58DC-3D61-C6722A59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E38E0-3094-0B19-925C-40A3486D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80003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9B5F-487F-9382-4AE9-D641B12A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348D0-8D41-9EC5-B0D4-ACFC46CCA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1BA24-A7A8-FA86-C33D-15823E841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9C503-A233-9F14-167B-EC564B10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25297-FE2F-49D2-8FEE-05E26B6656DC}" type="datetime1">
              <a:rPr lang="el-GR" smtClean="0"/>
              <a:t>6/8/2026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43A53-E068-EAC7-D887-D7DA1EF4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CA45A-8EE9-F4EB-179A-879F3E56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4460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BA01-DC2F-5973-C468-1854B17AF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1AD00-CA14-5414-4068-10A9DAEEA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57A14-BA46-E718-521F-F1E0E5B3B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91168-15CC-5D8C-1962-5F774F23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8DBD4-E661-492C-9C7B-A214AFB15552}" type="datetime1">
              <a:rPr lang="el-GR" smtClean="0"/>
              <a:t>6/8/2026</a:t>
            </a:fld>
            <a:endParaRPr lang="el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BC6EC-6216-C072-7D3C-F66F07E3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8B791-0AD3-FE9A-DFFA-51EDE15F9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2137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0201-00EF-7CEA-2883-61B63871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EFFE3-2400-0A1F-FD8C-ED483AE64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9220D-05E9-13F1-9FF1-D4273E1E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2EFCC-0B4F-4C8B-90D2-2A8408CA72D8}" type="datetime1">
              <a:rPr lang="el-GR" smtClean="0"/>
              <a:t>6/8/2026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64829-E309-B957-6D6B-C9E6ED541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C9AA1-2171-4E3E-F050-6156403F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8752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8F2127-F6C5-D080-F5CB-E2C121128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l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797A3-8424-9C05-7E6B-ED5178236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l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2A781-C2E1-52A3-636D-097A6F5E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A68D-EB2D-4044-A705-4FBC6A5FA973}" type="datetime1">
              <a:rPr lang="el-GR" smtClean="0"/>
              <a:t>6/8/2026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A7C7C-FC94-61D3-7950-A5A86334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EE262-A999-82C9-2DF9-93E7E7B1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6967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57D-17D8-9D39-3F91-8977301B3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46642-05BA-4ADF-B9BF-FCD829AD60A3}" type="datetime1">
              <a:rPr lang="el-GR" smtClean="0"/>
              <a:t>6/8/2026</a:t>
            </a:fld>
            <a:endParaRPr lang="el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95BBB-7735-6B6A-5681-B730A9D10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97277-92DE-5648-03C5-513398211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381" y="6374822"/>
            <a:ext cx="648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fld id="{1F586D06-98B3-4E66-9B88-29B923600892}" type="slidenum">
              <a:rPr lang="el-GR" smtClean="0"/>
              <a:pPr/>
              <a:t>‹#›</a:t>
            </a:fld>
            <a:endParaRPr lang="el-GR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7070D9-1C27-0F5F-7407-37C1B243E81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012218" y="184727"/>
            <a:ext cx="2013528" cy="13757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BCF67B-FAB3-F249-3078-16C353A6317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2105891" cy="210589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E0A7A8-BEE9-CC3B-D8FF-BEBABB8AB4DA}"/>
              </a:ext>
            </a:extLst>
          </p:cNvPr>
          <p:cNvCxnSpPr>
            <a:cxnSpLocks/>
          </p:cNvCxnSpPr>
          <p:nvPr userDrawn="1"/>
        </p:nvCxnSpPr>
        <p:spPr>
          <a:xfrm>
            <a:off x="7102764" y="6243777"/>
            <a:ext cx="49599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ETH Zürich (Eidgenössische Technische Hochschule Zürich)">
            <a:extLst>
              <a:ext uri="{FF2B5EF4-FFF2-40B4-BE49-F238E27FC236}">
                <a16:creationId xmlns:a16="http://schemas.microsoft.com/office/drawing/2014/main" id="{3E5AEC2D-5EB5-E829-DA94-CD47B2D1637B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481034" y="6356350"/>
            <a:ext cx="1333211" cy="3793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E254F63-EC5D-4B06-B42C-C2308EBB55E0}"/>
              </a:ext>
            </a:extLst>
          </p:cNvPr>
          <p:cNvSpPr txBox="1"/>
          <p:nvPr userDrawn="1"/>
        </p:nvSpPr>
        <p:spPr>
          <a:xfrm>
            <a:off x="7132904" y="6354246"/>
            <a:ext cx="16848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Fritzalas</a:t>
            </a:r>
            <a:r>
              <a:rPr lang="en-US" sz="1600" dirty="0"/>
              <a:t> Kosmas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161687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C3647-6733-677E-A7F7-D1C3068A7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pPr/>
              <a:t>1</a:t>
            </a:fld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0D351-EB16-2445-AD84-97EB4B9256E7}"/>
              </a:ext>
            </a:extLst>
          </p:cNvPr>
          <p:cNvSpPr txBox="1"/>
          <p:nvPr/>
        </p:nvSpPr>
        <p:spPr>
          <a:xfrm>
            <a:off x="3048000" y="4592562"/>
            <a:ext cx="6096000" cy="1610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l-GR" sz="2800" b="0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Progress </a:t>
            </a:r>
            <a:r>
              <a:rPr lang="el-GR" sz="2800" b="0" i="0" u="none" strike="noStrike" cap="small" dirty="0" err="1">
                <a:solidFill>
                  <a:srgbClr val="409EB9"/>
                </a:solidFill>
                <a:effectLst/>
                <a:latin typeface="Helvetica Neue"/>
              </a:rPr>
              <a:t>Meeting</a:t>
            </a:r>
            <a:r>
              <a:rPr lang="el-GR" sz="2800" b="0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 #1</a:t>
            </a:r>
            <a:endParaRPr lang="el-GR" b="0" dirty="0">
              <a:effectLst/>
            </a:endParaRPr>
          </a:p>
          <a:p>
            <a:pPr algn="ctr" rtl="0">
              <a:spcBef>
                <a:spcPts val="750"/>
              </a:spcBef>
              <a:buNone/>
            </a:pPr>
            <a:r>
              <a:rPr lang="en-US" sz="2800" cap="small" dirty="0">
                <a:solidFill>
                  <a:srgbClr val="409EB9"/>
                </a:solidFill>
                <a:latin typeface="Helvetica Neue"/>
              </a:rPr>
              <a:t>August</a:t>
            </a:r>
            <a:r>
              <a:rPr lang="el-GR" sz="2800" b="0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 </a:t>
            </a:r>
            <a:r>
              <a:rPr lang="en-US" sz="2800" b="0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6</a:t>
            </a:r>
            <a:r>
              <a:rPr lang="el-GR" sz="2800" b="0" i="0" u="none" strike="noStrike" cap="small" dirty="0" err="1">
                <a:solidFill>
                  <a:srgbClr val="409EB9"/>
                </a:solidFill>
                <a:effectLst/>
                <a:latin typeface="Helvetica Neue"/>
              </a:rPr>
              <a:t>th</a:t>
            </a:r>
            <a:r>
              <a:rPr lang="el-GR" sz="2800" b="0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, 2026</a:t>
            </a:r>
            <a:endParaRPr lang="el-GR" b="0" dirty="0">
              <a:effectLst/>
            </a:endParaRPr>
          </a:p>
          <a:p>
            <a:pPr>
              <a:buNone/>
            </a:pPr>
            <a:br>
              <a:rPr lang="el-GR" dirty="0"/>
            </a:br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AD044-E5F7-890A-8D90-3F0573F214C0}"/>
              </a:ext>
            </a:extLst>
          </p:cNvPr>
          <p:cNvSpPr txBox="1"/>
          <p:nvPr/>
        </p:nvSpPr>
        <p:spPr>
          <a:xfrm>
            <a:off x="1882877" y="999158"/>
            <a:ext cx="8426245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3600" b="1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Development of a data monitoring tool for the </a:t>
            </a:r>
            <a:r>
              <a:rPr lang="en-US" sz="3600" b="1" i="0" u="none" strike="noStrike" cap="small" dirty="0" err="1">
                <a:solidFill>
                  <a:srgbClr val="409EB9"/>
                </a:solidFill>
                <a:effectLst/>
                <a:latin typeface="Helvetica Neue"/>
              </a:rPr>
              <a:t>leming</a:t>
            </a:r>
            <a:r>
              <a:rPr lang="en-US" sz="3600" b="1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 experiment </a:t>
            </a:r>
          </a:p>
          <a:p>
            <a:pPr algn="ctr" rtl="0">
              <a:buNone/>
            </a:pPr>
            <a:r>
              <a:rPr lang="en-US" sz="3600" b="1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- </a:t>
            </a:r>
            <a:br>
              <a:rPr lang="el-GR" sz="4400" b="1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</a:br>
            <a:r>
              <a:rPr lang="en-US" sz="4400" b="1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  <a:t>Updated Leming browser</a:t>
            </a:r>
            <a:br>
              <a:rPr lang="el-GR" sz="4400" b="1" i="0" u="none" strike="noStrike" cap="small" dirty="0">
                <a:solidFill>
                  <a:srgbClr val="409EB9"/>
                </a:solidFill>
                <a:effectLst/>
                <a:latin typeface="Helvetica Neue"/>
              </a:rPr>
            </a:br>
            <a:endParaRPr lang="el-GR" b="0" dirty="0">
              <a:effectLst/>
            </a:endParaRPr>
          </a:p>
          <a:p>
            <a:pPr>
              <a:buNone/>
            </a:pPr>
            <a:br>
              <a:rPr lang="el-GR" dirty="0"/>
            </a:b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209895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59E6B-FB03-D6A7-1013-60DB31E6A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2</a:t>
            </a:fld>
            <a:endParaRPr lang="el-G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183A2-B372-061B-758A-169268D3329D}"/>
              </a:ext>
            </a:extLst>
          </p:cNvPr>
          <p:cNvSpPr txBox="1"/>
          <p:nvPr/>
        </p:nvSpPr>
        <p:spPr>
          <a:xfrm>
            <a:off x="5128908" y="296443"/>
            <a:ext cx="193418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3000" b="1"/>
            </a:pPr>
            <a:r>
              <a:rPr sz="4000" dirty="0"/>
              <a:t>Agenda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3EB116-1A59-6C52-B063-6F9F78EAFF90}"/>
              </a:ext>
            </a:extLst>
          </p:cNvPr>
          <p:cNvSpPr txBox="1"/>
          <p:nvPr/>
        </p:nvSpPr>
        <p:spPr>
          <a:xfrm>
            <a:off x="2596002" y="1331837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Evolution of the Data Architecture</a:t>
            </a:r>
          </a:p>
          <a:p>
            <a:pPr>
              <a:defRPr sz="1400"/>
            </a:pPr>
            <a:r>
              <a:rPr dirty="0"/>
              <a:t>Legacy structure → New architecture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C5B994-8CCE-F630-488A-DBDF80112B04}"/>
              </a:ext>
            </a:extLst>
          </p:cNvPr>
          <p:cNvSpPr txBox="1"/>
          <p:nvPr/>
        </p:nvSpPr>
        <p:spPr>
          <a:xfrm>
            <a:off x="2596002" y="2185415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The New LEMING Browser</a:t>
            </a:r>
          </a:p>
          <a:p>
            <a:pPr>
              <a:defRPr sz="1400"/>
            </a:pPr>
            <a:r>
              <a:rPr dirty="0"/>
              <a:t>Architecture, robustness, maintainability &amp; 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43E7D-6928-7291-7651-2CDD5D533795}"/>
              </a:ext>
            </a:extLst>
          </p:cNvPr>
          <p:cNvSpPr txBox="1"/>
          <p:nvPr/>
        </p:nvSpPr>
        <p:spPr>
          <a:xfrm>
            <a:off x="2596002" y="2955123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Software Architecture</a:t>
            </a:r>
          </a:p>
          <a:p>
            <a:pPr>
              <a:defRPr sz="1400"/>
            </a:pPr>
            <a:r>
              <a:rPr dirty="0"/>
              <a:t>Design principles, classes &amp; implementation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402EF-4858-307D-4306-28C46AB842CF}"/>
              </a:ext>
            </a:extLst>
          </p:cNvPr>
          <p:cNvSpPr txBox="1"/>
          <p:nvPr/>
        </p:nvSpPr>
        <p:spPr>
          <a:xfrm>
            <a:off x="2596002" y="3798376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Usage Demonstration</a:t>
            </a:r>
          </a:p>
          <a:p>
            <a:pPr>
              <a:defRPr sz="1400"/>
            </a:pPr>
            <a:r>
              <a:rPr dirty="0"/>
              <a:t>Typical workflows and examples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5D5527-8CEC-6064-7250-C4D77CA7CC99}"/>
              </a:ext>
            </a:extLst>
          </p:cNvPr>
          <p:cNvSpPr txBox="1"/>
          <p:nvPr/>
        </p:nvSpPr>
        <p:spPr>
          <a:xfrm>
            <a:off x="2596002" y="4738597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dirty="0"/>
              <a:t>Results &amp; Future Work</a:t>
            </a:r>
          </a:p>
          <a:p>
            <a:pPr>
              <a:defRPr sz="1400"/>
            </a:pPr>
            <a:r>
              <a:rPr dirty="0"/>
              <a:t>Performance, conclusions and outlook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BC89AC-A7B6-DF01-7454-47C6357CF2EA}"/>
              </a:ext>
            </a:extLst>
          </p:cNvPr>
          <p:cNvSpPr txBox="1"/>
          <p:nvPr/>
        </p:nvSpPr>
        <p:spPr>
          <a:xfrm>
            <a:off x="2138802" y="1374055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972EE-27BA-3488-53D1-1B2F4144A23C}"/>
              </a:ext>
            </a:extLst>
          </p:cNvPr>
          <p:cNvSpPr txBox="1"/>
          <p:nvPr/>
        </p:nvSpPr>
        <p:spPr>
          <a:xfrm>
            <a:off x="2138802" y="226459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02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04A5E-2CE7-303E-AE81-9EA51519DA27}"/>
              </a:ext>
            </a:extLst>
          </p:cNvPr>
          <p:cNvSpPr txBox="1"/>
          <p:nvPr/>
        </p:nvSpPr>
        <p:spPr>
          <a:xfrm>
            <a:off x="2138802" y="3046563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AA0BD1-E2C9-59F0-E2F4-3D76636CF149}"/>
              </a:ext>
            </a:extLst>
          </p:cNvPr>
          <p:cNvSpPr txBox="1"/>
          <p:nvPr/>
        </p:nvSpPr>
        <p:spPr>
          <a:xfrm>
            <a:off x="2138802" y="389534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BB8C0B-A713-77FD-FA58-C4B922FF93C0}"/>
              </a:ext>
            </a:extLst>
          </p:cNvPr>
          <p:cNvSpPr txBox="1"/>
          <p:nvPr/>
        </p:nvSpPr>
        <p:spPr>
          <a:xfrm>
            <a:off x="2138802" y="4830037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1633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93399-7FA5-B5ED-0184-3B1F5B68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3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2F841-2A81-F38E-C04B-79270F21B284}"/>
              </a:ext>
            </a:extLst>
          </p:cNvPr>
          <p:cNvSpPr txBox="1"/>
          <p:nvPr/>
        </p:nvSpPr>
        <p:spPr>
          <a:xfrm>
            <a:off x="6302476" y="1972351"/>
            <a:ext cx="5889523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Main Capabilities</a:t>
            </a:r>
          </a:p>
          <a:p>
            <a:pPr>
              <a:defRPr sz="1600"/>
            </a:pPr>
            <a:r>
              <a:rPr dirty="0"/>
              <a:t>• ROOT-based graphical interface</a:t>
            </a:r>
          </a:p>
          <a:p>
            <a:pPr>
              <a:defRPr sz="1600"/>
            </a:pPr>
            <a:r>
              <a:rPr dirty="0"/>
              <a:t>• Interactive histogram visualization</a:t>
            </a:r>
          </a:p>
          <a:p>
            <a:pPr>
              <a:defRPr sz="1600"/>
            </a:pPr>
            <a:r>
              <a:rPr dirty="0"/>
              <a:t>• Detector-specific cuts &amp; corrections</a:t>
            </a:r>
          </a:p>
          <a:p>
            <a:pPr>
              <a:defRPr sz="1600"/>
            </a:pPr>
            <a:r>
              <a:rPr dirty="0"/>
              <a:t>• Comparison of two datasets</a:t>
            </a:r>
          </a:p>
          <a:p>
            <a:pPr>
              <a:defRPr sz="1600"/>
            </a:pPr>
            <a:r>
              <a:rPr dirty="0"/>
              <a:t>• Configuration save/load</a:t>
            </a:r>
          </a:p>
          <a:p>
            <a:pPr>
              <a:defRPr sz="1600"/>
            </a:pPr>
            <a:endParaRPr dirty="0"/>
          </a:p>
          <a:p>
            <a:pPr>
              <a:defRPr sz="2000" b="1"/>
            </a:pPr>
            <a:r>
              <a:rPr dirty="0"/>
              <a:t>Workflow</a:t>
            </a:r>
            <a:endParaRPr lang="el-GR" dirty="0"/>
          </a:p>
          <a:p>
            <a:pPr lvl="0"/>
            <a:r>
              <a:rPr lang="el-GR" sz="1600" dirty="0"/>
              <a:t>ROOT </a:t>
            </a:r>
            <a:r>
              <a:rPr lang="el-GR" sz="1600" dirty="0" err="1"/>
              <a:t>File</a:t>
            </a:r>
            <a:r>
              <a:rPr lang="el-GR" sz="1600" dirty="0"/>
              <a:t> → </a:t>
            </a:r>
            <a:r>
              <a:rPr lang="el-GR" sz="1600" dirty="0" err="1"/>
              <a:t>Select</a:t>
            </a:r>
            <a:r>
              <a:rPr lang="el-GR" sz="1600" dirty="0"/>
              <a:t> </a:t>
            </a:r>
            <a:r>
              <a:rPr lang="el-GR" sz="1600" dirty="0" err="1"/>
              <a:t>Run</a:t>
            </a:r>
            <a:r>
              <a:rPr lang="el-GR" sz="1600" dirty="0"/>
              <a:t>(s) → </a:t>
            </a:r>
            <a:r>
              <a:rPr lang="el-GR" sz="1600" dirty="0" err="1"/>
              <a:t>Select</a:t>
            </a:r>
            <a:r>
              <a:rPr lang="el-GR" sz="1600" dirty="0"/>
              <a:t> </a:t>
            </a:r>
            <a:r>
              <a:rPr lang="el-GR" sz="1600" dirty="0" err="1"/>
              <a:t>Histograms</a:t>
            </a:r>
            <a:r>
              <a:rPr lang="el-GR" sz="1600" dirty="0"/>
              <a:t>→ </a:t>
            </a:r>
            <a:r>
              <a:rPr lang="el-GR" sz="1600" dirty="0" err="1"/>
              <a:t>Draw</a:t>
            </a:r>
            <a:r>
              <a:rPr lang="el-GR" sz="1600" dirty="0"/>
              <a:t> </a:t>
            </a:r>
            <a:r>
              <a:rPr lang="el-GR" sz="1600" dirty="0" err="1"/>
              <a:t>Histograms</a:t>
            </a:r>
            <a:endParaRPr lang="el-GR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8D6288-9DE7-3768-4735-38CF9595694F}"/>
              </a:ext>
            </a:extLst>
          </p:cNvPr>
          <p:cNvSpPr txBox="1"/>
          <p:nvPr/>
        </p:nvSpPr>
        <p:spPr>
          <a:xfrm>
            <a:off x="3196232" y="404597"/>
            <a:ext cx="579953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>
              <a:defRPr sz="3000" b="1"/>
            </a:pPr>
            <a:r>
              <a:rPr lang="el-GR" sz="4000" b="1" dirty="0" err="1"/>
              <a:t>Legacy</a:t>
            </a:r>
            <a:r>
              <a:rPr lang="el-GR" sz="4000" b="1" dirty="0"/>
              <a:t> LEMING </a:t>
            </a:r>
            <a:r>
              <a:rPr lang="el-GR" sz="4000" b="1" dirty="0" err="1"/>
              <a:t>Browser</a:t>
            </a:r>
            <a:endParaRPr lang="el-GR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DC2426-041A-E727-F992-F93524B6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5" y="2300749"/>
            <a:ext cx="6069947" cy="3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2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BBF1A-8B31-5374-AB32-11A9C589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4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BB2FE-0FC2-0A23-8D8B-3443232693FD}"/>
              </a:ext>
            </a:extLst>
          </p:cNvPr>
          <p:cNvSpPr txBox="1"/>
          <p:nvPr/>
        </p:nvSpPr>
        <p:spPr>
          <a:xfrm>
            <a:off x="3108222" y="240702"/>
            <a:ext cx="59755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4000" dirty="0"/>
              <a:t>Challenges of the Legacy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CE3955-41F3-F9E4-4544-BD27A6441323}"/>
              </a:ext>
            </a:extLst>
          </p:cNvPr>
          <p:cNvSpPr txBox="1"/>
          <p:nvPr/>
        </p:nvSpPr>
        <p:spPr>
          <a:xfrm>
            <a:off x="518407" y="2213492"/>
            <a:ext cx="7888174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Architecture</a:t>
            </a:r>
          </a:p>
          <a:p>
            <a:pPr>
              <a:defRPr sz="1800" b="0"/>
            </a:pPr>
            <a:r>
              <a:rPr dirty="0"/>
              <a:t>• Monolithic implementation</a:t>
            </a:r>
          </a:p>
          <a:p>
            <a:pPr>
              <a:defRPr sz="1800" b="0"/>
            </a:pPr>
            <a:r>
              <a:rPr dirty="0"/>
              <a:t>• GUI tightly coupled with data processing</a:t>
            </a:r>
          </a:p>
          <a:p>
            <a:pPr>
              <a:defRPr sz="1800" b="0"/>
            </a:pPr>
            <a:r>
              <a:rPr dirty="0"/>
              <a:t>• Histogram logic embedded in GUI</a:t>
            </a:r>
          </a:p>
          <a:p>
            <a:pPr>
              <a:defRPr sz="1800" b="0"/>
            </a:pPr>
            <a:r>
              <a:rPr dirty="0"/>
              <a:t>• Growing number of special-case implementations</a:t>
            </a:r>
            <a:br>
              <a:rPr lang="en-US" dirty="0"/>
            </a:br>
            <a:br>
              <a:rPr lang="en-US" dirty="0"/>
            </a:br>
            <a:endParaRPr dirty="0"/>
          </a:p>
          <a:p>
            <a:pPr>
              <a:defRPr sz="2200" b="1"/>
            </a:pPr>
            <a:r>
              <a:rPr dirty="0"/>
              <a:t>Maintainability</a:t>
            </a:r>
            <a:endParaRPr lang="en-US" dirty="0"/>
          </a:p>
          <a:p>
            <a:pPr>
              <a:defRPr sz="1800" b="0"/>
            </a:pPr>
            <a:r>
              <a:rPr dirty="0"/>
              <a:t>• Difficult to extend for new detectors</a:t>
            </a:r>
            <a:endParaRPr lang="en-US" dirty="0"/>
          </a:p>
          <a:p>
            <a:pPr lvl="0"/>
            <a:r>
              <a:rPr lang="en-US" dirty="0"/>
              <a:t>• </a:t>
            </a:r>
            <a:r>
              <a:rPr lang="el-GR" dirty="0" err="1"/>
              <a:t>Slow</a:t>
            </a:r>
            <a:r>
              <a:rPr lang="el-GR" dirty="0"/>
              <a:t> </a:t>
            </a:r>
            <a:r>
              <a:rPr lang="el-GR" dirty="0" err="1"/>
              <a:t>performance</a:t>
            </a:r>
            <a:r>
              <a:rPr lang="el-GR" dirty="0"/>
              <a:t> </a:t>
            </a:r>
            <a:r>
              <a:rPr lang="el-GR" dirty="0" err="1"/>
              <a:t>due</a:t>
            </a:r>
            <a:r>
              <a:rPr lang="el-GR" dirty="0"/>
              <a:t> </a:t>
            </a:r>
            <a:r>
              <a:rPr lang="el-GR" dirty="0" err="1"/>
              <a:t>to</a:t>
            </a:r>
            <a:r>
              <a:rPr lang="el-GR" dirty="0"/>
              <a:t> the </a:t>
            </a:r>
            <a:r>
              <a:rPr lang="el-GR" dirty="0" err="1"/>
              <a:t>need</a:t>
            </a:r>
            <a:r>
              <a:rPr lang="el-GR" dirty="0"/>
              <a:t> </a:t>
            </a:r>
            <a:r>
              <a:rPr lang="el-GR" dirty="0" err="1"/>
              <a:t>to</a:t>
            </a:r>
            <a:r>
              <a:rPr lang="el-GR" dirty="0"/>
              <a:t> </a:t>
            </a:r>
            <a:r>
              <a:rPr lang="el-GR" dirty="0" err="1"/>
              <a:t>load</a:t>
            </a:r>
            <a:r>
              <a:rPr lang="el-GR" dirty="0"/>
              <a:t> </a:t>
            </a:r>
            <a:r>
              <a:rPr lang="el-GR" dirty="0" err="1"/>
              <a:t>histogram</a:t>
            </a:r>
            <a:r>
              <a:rPr lang="el-GR" dirty="0"/>
              <a:t> </a:t>
            </a:r>
            <a:r>
              <a:rPr lang="el-GR" dirty="0" err="1"/>
              <a:t>files</a:t>
            </a:r>
            <a:r>
              <a:rPr lang="el-GR" dirty="0"/>
              <a:t> </a:t>
            </a:r>
            <a:r>
              <a:rPr lang="el-GR" dirty="0" err="1"/>
              <a:t>before</a:t>
            </a:r>
            <a:r>
              <a:rPr lang="el-GR" dirty="0"/>
              <a:t> </a:t>
            </a:r>
            <a:r>
              <a:rPr lang="el-GR" dirty="0" err="1"/>
              <a:t>analysis</a:t>
            </a:r>
            <a:r>
              <a:rPr lang="el-GR" dirty="0"/>
              <a:t>. </a:t>
            </a:r>
          </a:p>
          <a:p>
            <a:pPr lvl="0"/>
            <a:r>
              <a:rPr lang="en-US" dirty="0"/>
              <a:t>• </a:t>
            </a:r>
            <a:r>
              <a:rPr lang="el-GR" dirty="0" err="1"/>
              <a:t>File-loading</a:t>
            </a:r>
            <a:r>
              <a:rPr lang="el-GR" dirty="0"/>
              <a:t> </a:t>
            </a:r>
            <a:r>
              <a:rPr lang="el-GR" dirty="0" err="1"/>
              <a:t>overhead</a:t>
            </a:r>
            <a:r>
              <a:rPr lang="el-GR" dirty="0"/>
              <a:t> </a:t>
            </a:r>
            <a:r>
              <a:rPr lang="el-GR" dirty="0" err="1"/>
              <a:t>significantly</a:t>
            </a:r>
            <a:r>
              <a:rPr lang="el-GR" dirty="0"/>
              <a:t> </a:t>
            </a:r>
            <a:r>
              <a:rPr lang="el-GR" dirty="0" err="1"/>
              <a:t>increased</a:t>
            </a:r>
            <a:r>
              <a:rPr lang="el-GR" dirty="0"/>
              <a:t> </a:t>
            </a:r>
            <a:r>
              <a:rPr lang="el-GR" dirty="0" err="1"/>
              <a:t>startup</a:t>
            </a:r>
            <a:r>
              <a:rPr lang="el-GR" dirty="0"/>
              <a:t> and </a:t>
            </a:r>
            <a:r>
              <a:rPr lang="el-GR" dirty="0" err="1"/>
              <a:t>browsing</a:t>
            </a:r>
            <a:r>
              <a:rPr lang="el-GR" dirty="0"/>
              <a:t> </a:t>
            </a:r>
            <a:r>
              <a:rPr lang="el-GR" dirty="0" err="1"/>
              <a:t>times</a:t>
            </a:r>
            <a:r>
              <a:rPr lang="el-GR" dirty="0"/>
              <a:t>. </a:t>
            </a:r>
          </a:p>
          <a:p>
            <a:pPr lvl="0"/>
            <a:r>
              <a:rPr lang="en-US" dirty="0"/>
              <a:t>• </a:t>
            </a:r>
            <a:r>
              <a:rPr lang="el-GR" dirty="0" err="1"/>
              <a:t>No</a:t>
            </a:r>
            <a:r>
              <a:rPr lang="el-GR" dirty="0"/>
              <a:t> </a:t>
            </a:r>
            <a:r>
              <a:rPr lang="el-GR" dirty="0" err="1"/>
              <a:t>multi-threading</a:t>
            </a:r>
            <a:r>
              <a:rPr lang="el-GR" dirty="0"/>
              <a:t> </a:t>
            </a:r>
            <a:r>
              <a:rPr lang="el-GR" dirty="0" err="1"/>
              <a:t>support</a:t>
            </a:r>
            <a:endParaRPr lang="en-US" dirty="0"/>
          </a:p>
          <a:p>
            <a:pPr>
              <a:defRPr sz="1800" b="0"/>
            </a:pPr>
            <a:r>
              <a:rPr lang="el-GR" dirty="0"/>
              <a:t>•</a:t>
            </a:r>
            <a:r>
              <a:rPr lang="en-US" dirty="0"/>
              <a:t> Hardcoded energy &amp; time cuts</a:t>
            </a:r>
            <a:endParaRPr dirty="0"/>
          </a:p>
          <a:p>
            <a:pPr>
              <a:defRPr sz="1800" b="0"/>
            </a:pPr>
            <a:r>
              <a:rPr dirty="0"/>
              <a:t>• Multiple files modified for new features</a:t>
            </a:r>
          </a:p>
          <a:p>
            <a:pPr>
              <a:defRPr sz="1800" b="0"/>
            </a:pPr>
            <a:r>
              <a:rPr dirty="0"/>
              <a:t>• Increasing code complexity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63F900-DD78-56AC-F4C1-BA992723B42A}"/>
              </a:ext>
            </a:extLst>
          </p:cNvPr>
          <p:cNvSpPr txBox="1"/>
          <p:nvPr/>
        </p:nvSpPr>
        <p:spPr>
          <a:xfrm>
            <a:off x="6971071" y="2213492"/>
            <a:ext cx="45940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Motivation</a:t>
            </a:r>
          </a:p>
          <a:p>
            <a:pPr algn="just">
              <a:defRPr sz="1800"/>
            </a:pPr>
            <a:r>
              <a:rPr dirty="0"/>
              <a:t>A complete redesign was required to support the new BT2</a:t>
            </a:r>
            <a:r>
              <a:rPr lang="en-US" dirty="0"/>
              <a:t>6</a:t>
            </a:r>
            <a:r>
              <a:rPr dirty="0"/>
              <a:t> data architecture while improving modularity, maintainability and extensibility.</a:t>
            </a:r>
          </a:p>
        </p:txBody>
      </p:sp>
    </p:spTree>
    <p:extLst>
      <p:ext uri="{BB962C8B-B14F-4D97-AF65-F5344CB8AC3E}">
        <p14:creationId xmlns:p14="http://schemas.microsoft.com/office/powerpoint/2010/main" val="100513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473BC-13DE-E3CB-CEF0-2C09BA8C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5</a:t>
            </a:fld>
            <a:endParaRPr lang="el-G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2ECBFE-1920-1328-670C-D190862B85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82" r="38710" b="7045"/>
          <a:stretch>
            <a:fillRect/>
          </a:stretch>
        </p:blipFill>
        <p:spPr>
          <a:xfrm>
            <a:off x="279571" y="2261418"/>
            <a:ext cx="5690785" cy="3873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D18B75-5F76-8E9C-EABC-366E7C62E169}"/>
              </a:ext>
            </a:extLst>
          </p:cNvPr>
          <p:cNvSpPr txBox="1"/>
          <p:nvPr/>
        </p:nvSpPr>
        <p:spPr>
          <a:xfrm>
            <a:off x="3801670" y="332822"/>
            <a:ext cx="45886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Legacy ROOT File Structure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90F8B-FFB5-F0B6-A635-78EC81D147FF}"/>
              </a:ext>
            </a:extLst>
          </p:cNvPr>
          <p:cNvSpPr txBox="1"/>
          <p:nvPr/>
        </p:nvSpPr>
        <p:spPr>
          <a:xfrm>
            <a:off x="6096000" y="2172438"/>
            <a:ext cx="547656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dirty="0"/>
              <a:t>Highlights</a:t>
            </a:r>
            <a:endParaRPr lang="en-US" dirty="0"/>
          </a:p>
          <a:p>
            <a:pPr algn="just">
              <a:defRPr sz="2200" b="1"/>
            </a:pPr>
            <a:endParaRPr dirty="0"/>
          </a:p>
          <a:p>
            <a:pPr algn="just">
              <a:defRPr sz="1800"/>
            </a:pPr>
            <a:r>
              <a:rPr dirty="0"/>
              <a:t>• Precomputed TH1/TH2 histograms stored directly in the ROOT file</a:t>
            </a:r>
          </a:p>
          <a:p>
            <a:pPr algn="just">
              <a:defRPr sz="1800"/>
            </a:pPr>
            <a:r>
              <a:rPr dirty="0"/>
              <a:t>• Small number of </a:t>
            </a:r>
            <a:r>
              <a:rPr dirty="0" err="1"/>
              <a:t>TTrees</a:t>
            </a:r>
            <a:r>
              <a:rPr dirty="0"/>
              <a:t> with analysis-specific content</a:t>
            </a:r>
          </a:p>
        </p:txBody>
      </p:sp>
    </p:spTree>
    <p:extLst>
      <p:ext uri="{BB962C8B-B14F-4D97-AF65-F5344CB8AC3E}">
        <p14:creationId xmlns:p14="http://schemas.microsoft.com/office/powerpoint/2010/main" val="328433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BF912-BAB1-FB3A-606D-F556053D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6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C233CD-C9A4-9345-37D1-971AEC80DF63}"/>
              </a:ext>
            </a:extLst>
          </p:cNvPr>
          <p:cNvSpPr txBox="1"/>
          <p:nvPr/>
        </p:nvSpPr>
        <p:spPr>
          <a:xfrm>
            <a:off x="3943227" y="263996"/>
            <a:ext cx="4305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New ROOT File Structure</a:t>
            </a:r>
          </a:p>
        </p:txBody>
      </p:sp>
      <p:pic>
        <p:nvPicPr>
          <p:cNvPr id="8" name="Picture 7" descr="6dc0365e-85fe-42c3-883e-96f975945875.png">
            <a:extLst>
              <a:ext uri="{FF2B5EF4-FFF2-40B4-BE49-F238E27FC236}">
                <a16:creationId xmlns:a16="http://schemas.microsoft.com/office/drawing/2014/main" id="{0D864A8F-3A9F-431A-2E53-F7E991061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97" y="2194386"/>
            <a:ext cx="5512947" cy="43209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72D495-10A1-4B1C-31E6-6D9DFAB33244}"/>
              </a:ext>
            </a:extLst>
          </p:cNvPr>
          <p:cNvSpPr txBox="1"/>
          <p:nvPr/>
        </p:nvSpPr>
        <p:spPr>
          <a:xfrm>
            <a:off x="6164824" y="1920240"/>
            <a:ext cx="5260557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dirty="0"/>
              <a:t>Highlights</a:t>
            </a:r>
          </a:p>
          <a:p>
            <a:pPr algn="just">
              <a:defRPr sz="1800"/>
            </a:pPr>
            <a:r>
              <a:rPr dirty="0"/>
              <a:t>• Event-based </a:t>
            </a:r>
            <a:r>
              <a:rPr dirty="0" err="1"/>
              <a:t>TTrees</a:t>
            </a:r>
            <a:r>
              <a:rPr dirty="0"/>
              <a:t> store raw detector information</a:t>
            </a:r>
          </a:p>
          <a:p>
            <a:pPr algn="just">
              <a:defRPr sz="1800"/>
            </a:pPr>
            <a:r>
              <a:rPr dirty="0"/>
              <a:t>• Histograms are generated dynamically during processing</a:t>
            </a:r>
          </a:p>
          <a:p>
            <a:pPr algn="just">
              <a:defRPr sz="1800"/>
            </a:pPr>
            <a:r>
              <a:rPr dirty="0"/>
              <a:t>• Naturally extensible to additional detectors and observables</a:t>
            </a:r>
          </a:p>
          <a:p>
            <a:pPr algn="just">
              <a:defRPr sz="1800"/>
            </a:pPr>
            <a:r>
              <a:rPr dirty="0"/>
              <a:t>• Designed for modular, multi-threaded </a:t>
            </a:r>
            <a:r>
              <a:rPr dirty="0" err="1"/>
              <a:t>RDataFrame</a:t>
            </a:r>
            <a:r>
              <a:rPr dirty="0"/>
              <a:t> workflows</a:t>
            </a:r>
          </a:p>
        </p:txBody>
      </p:sp>
    </p:spTree>
    <p:extLst>
      <p:ext uri="{BB962C8B-B14F-4D97-AF65-F5344CB8AC3E}">
        <p14:creationId xmlns:p14="http://schemas.microsoft.com/office/powerpoint/2010/main" val="112549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1C1C1-1D62-6A93-222B-D957C5F4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7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A73F0-D613-6130-57CD-EE730F280BFB}"/>
              </a:ext>
            </a:extLst>
          </p:cNvPr>
          <p:cNvSpPr txBox="1"/>
          <p:nvPr/>
        </p:nvSpPr>
        <p:spPr>
          <a:xfrm>
            <a:off x="2241754" y="224667"/>
            <a:ext cx="77084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4000" dirty="0"/>
              <a:t>New LEMING Browser – </a:t>
            </a:r>
            <a:endParaRPr lang="en-US" sz="4000" dirty="0"/>
          </a:p>
          <a:p>
            <a:pPr algn="ctr">
              <a:defRPr sz="2800" b="1"/>
            </a:pPr>
            <a:r>
              <a:rPr sz="4000" dirty="0"/>
              <a:t>Code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779FB7-644B-DB40-1489-A52135D46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39" y="2139500"/>
            <a:ext cx="6068099" cy="4583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DED53B-3E88-E5E6-B6B9-270B36002D50}"/>
              </a:ext>
            </a:extLst>
          </p:cNvPr>
          <p:cNvSpPr txBox="1"/>
          <p:nvPr/>
        </p:nvSpPr>
        <p:spPr>
          <a:xfrm>
            <a:off x="6587612" y="1893364"/>
            <a:ext cx="560409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New Implementation Improvements</a:t>
            </a:r>
          </a:p>
          <a:p>
            <a:pPr algn="just">
              <a:defRPr sz="1800" b="0"/>
            </a:pPr>
            <a:r>
              <a:rPr dirty="0"/>
              <a:t>• Multi-threaded processing (work no longer runs in the main thread)</a:t>
            </a:r>
          </a:p>
          <a:p>
            <a:pPr algn="just">
              <a:defRPr sz="1800" b="0"/>
            </a:pPr>
            <a:r>
              <a:rPr dirty="0"/>
              <a:t>• No GUI dependency — data-processing code can evolve independently</a:t>
            </a:r>
          </a:p>
          <a:p>
            <a:pPr algn="just">
              <a:defRPr sz="1800" b="0"/>
            </a:pP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Modular architecture enables special-case implementations without increasing complexity</a:t>
            </a:r>
          </a:p>
          <a:p>
            <a:pPr algn="just">
              <a:defRPr sz="1800" b="0"/>
            </a:pPr>
            <a:r>
              <a:rPr dirty="0"/>
              <a:t>• Easily extensible to support new detector types</a:t>
            </a:r>
          </a:p>
          <a:p>
            <a:pPr algn="just">
              <a:defRPr sz="1800" b="0"/>
            </a:pPr>
            <a:r>
              <a:rPr dirty="0"/>
              <a:t>• Native support for processing multiple datasets</a:t>
            </a:r>
          </a:p>
          <a:p>
            <a:pPr algn="just">
              <a:defRPr sz="1800" b="0"/>
            </a:pPr>
            <a:r>
              <a:rPr dirty="0"/>
              <a:t>• Processing logic separated into dedicated Python helper modules</a:t>
            </a:r>
          </a:p>
          <a:p>
            <a:pPr algn="just">
              <a:defRPr sz="1800" b="0"/>
            </a:pPr>
            <a:r>
              <a:rPr dirty="0"/>
              <a:t>• Cleaner, simpler and more maintainable codebase</a:t>
            </a:r>
          </a:p>
          <a:p>
            <a:pPr algn="just">
              <a:defRPr sz="1000" b="0"/>
            </a:pPr>
            <a:endParaRPr dirty="0"/>
          </a:p>
          <a:p>
            <a:pPr algn="just">
              <a:defRPr sz="1800" b="1"/>
            </a:pPr>
            <a:r>
              <a:rPr dirty="0"/>
              <a:t>These architectural improvements are explained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96765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41F04-47D2-EF9C-4AFF-ABB659124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8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AA12E-8B0E-9763-136E-1CCD414BE1B2}"/>
              </a:ext>
            </a:extLst>
          </p:cNvPr>
          <p:cNvSpPr txBox="1"/>
          <p:nvPr/>
        </p:nvSpPr>
        <p:spPr>
          <a:xfrm>
            <a:off x="4616737" y="303325"/>
            <a:ext cx="2958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dirty="0"/>
              <a:t>C++ Helper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399F51-D755-53CE-F071-1C79E99B207A}"/>
              </a:ext>
            </a:extLst>
          </p:cNvPr>
          <p:cNvSpPr txBox="1"/>
          <p:nvPr/>
        </p:nvSpPr>
        <p:spPr>
          <a:xfrm>
            <a:off x="200576" y="2264369"/>
            <a:ext cx="529565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dirty="0"/>
              <a:t>Why C++ Helpers?</a:t>
            </a:r>
            <a:endParaRPr lang="en-US" dirty="0"/>
          </a:p>
          <a:p>
            <a:pPr algn="just">
              <a:defRPr sz="2200" b="1"/>
            </a:pPr>
            <a:endParaRPr dirty="0"/>
          </a:p>
          <a:p>
            <a:pPr algn="just">
              <a:defRPr sz="1800"/>
            </a:pPr>
            <a:r>
              <a:rPr dirty="0"/>
              <a:t>• </a:t>
            </a:r>
            <a:r>
              <a:rPr lang="el-GR" dirty="0" err="1"/>
              <a:t>Core</a:t>
            </a:r>
            <a:r>
              <a:rPr lang="el-GR" dirty="0"/>
              <a:t> </a:t>
            </a:r>
            <a:r>
              <a:rPr lang="el-GR" dirty="0" err="1"/>
              <a:t>data</a:t>
            </a:r>
            <a:r>
              <a:rPr lang="el-GR" dirty="0"/>
              <a:t> </a:t>
            </a:r>
            <a:r>
              <a:rPr lang="el-GR" dirty="0" err="1"/>
              <a:t>operations</a:t>
            </a:r>
            <a:r>
              <a:rPr lang="el-GR" dirty="0"/>
              <a:t> </a:t>
            </a:r>
            <a:r>
              <a:rPr lang="el-GR" dirty="0" err="1"/>
              <a:t>run</a:t>
            </a:r>
            <a:r>
              <a:rPr lang="el-GR" dirty="0"/>
              <a:t> in ROOT C++, </a:t>
            </a:r>
            <a:r>
              <a:rPr lang="el-GR" dirty="0" err="1"/>
              <a:t>because</a:t>
            </a:r>
            <a:r>
              <a:rPr lang="el-GR" dirty="0"/>
              <a:t> </a:t>
            </a:r>
            <a:r>
              <a:rPr lang="el-GR" dirty="0" err="1"/>
              <a:t>Python</a:t>
            </a:r>
            <a:r>
              <a:rPr lang="el-GR" dirty="0"/>
              <a:t> </a:t>
            </a:r>
            <a:r>
              <a:rPr lang="el-GR" dirty="0" err="1"/>
              <a:t>functions</a:t>
            </a:r>
            <a:r>
              <a:rPr lang="el-GR" dirty="0"/>
              <a:t> (</a:t>
            </a:r>
            <a:r>
              <a:rPr lang="el-GR" dirty="0" err="1"/>
              <a:t>e.g</a:t>
            </a:r>
            <a:r>
              <a:rPr lang="el-GR" dirty="0"/>
              <a:t>., </a:t>
            </a:r>
            <a:r>
              <a:rPr lang="el-GR" dirty="0" err="1"/>
              <a:t>filtering</a:t>
            </a:r>
            <a:r>
              <a:rPr lang="el-GR" dirty="0"/>
              <a:t>, </a:t>
            </a:r>
            <a:r>
              <a:rPr lang="el-GR" dirty="0" err="1"/>
              <a:t>grouping</a:t>
            </a:r>
            <a:r>
              <a:rPr lang="el-GR" dirty="0"/>
              <a:t>, </a:t>
            </a:r>
            <a:r>
              <a:rPr lang="el-GR" dirty="0" err="1"/>
              <a:t>or</a:t>
            </a:r>
            <a:r>
              <a:rPr lang="el-GR" dirty="0"/>
              <a:t> </a:t>
            </a:r>
            <a:r>
              <a:rPr lang="el-GR" dirty="0" err="1"/>
              <a:t>accessing</a:t>
            </a:r>
            <a:r>
              <a:rPr lang="el-GR" dirty="0"/>
              <a:t> the </a:t>
            </a:r>
            <a:r>
              <a:rPr lang="el-GR" dirty="0" err="1"/>
              <a:t>first</a:t>
            </a:r>
            <a:r>
              <a:rPr lang="el-GR" dirty="0"/>
              <a:t> </a:t>
            </a:r>
            <a:r>
              <a:rPr lang="el-GR" dirty="0" err="1"/>
              <a:t>element</a:t>
            </a:r>
            <a:r>
              <a:rPr lang="el-GR" dirty="0"/>
              <a:t> </a:t>
            </a:r>
            <a:r>
              <a:rPr lang="el-GR" dirty="0" err="1"/>
              <a:t>with</a:t>
            </a:r>
            <a:r>
              <a:rPr lang="el-GR" dirty="0"/>
              <a:t> </a:t>
            </a:r>
            <a:r>
              <a:rPr lang="el-GR" dirty="0" err="1"/>
              <a:t>get</a:t>
            </a:r>
            <a:r>
              <a:rPr lang="el-GR" dirty="0"/>
              <a:t>(0)) </a:t>
            </a:r>
            <a:r>
              <a:rPr lang="el-GR" dirty="0" err="1"/>
              <a:t>cannot</a:t>
            </a:r>
            <a:r>
              <a:rPr lang="el-GR" dirty="0"/>
              <a:t> </a:t>
            </a:r>
            <a:r>
              <a:rPr lang="el-GR" dirty="0" err="1"/>
              <a:t>be</a:t>
            </a:r>
            <a:r>
              <a:rPr lang="el-GR" dirty="0"/>
              <a:t> </a:t>
            </a:r>
            <a:r>
              <a:rPr lang="el-GR" dirty="0" err="1"/>
              <a:t>executed</a:t>
            </a:r>
            <a:r>
              <a:rPr lang="el-GR" dirty="0"/>
              <a:t> </a:t>
            </a:r>
            <a:r>
              <a:rPr lang="el-GR" dirty="0" err="1"/>
              <a:t>efficiently</a:t>
            </a:r>
            <a:r>
              <a:rPr lang="el-GR" dirty="0"/>
              <a:t> in a </a:t>
            </a:r>
            <a:r>
              <a:rPr lang="el-GR" dirty="0" err="1"/>
              <a:t>multi-threaded</a:t>
            </a:r>
            <a:r>
              <a:rPr lang="el-GR" dirty="0"/>
              <a:t> </a:t>
            </a:r>
            <a:r>
              <a:rPr lang="el-GR" dirty="0" err="1"/>
              <a:t>RDataFrame</a:t>
            </a:r>
            <a:r>
              <a:rPr lang="el-GR" dirty="0"/>
              <a:t> </a:t>
            </a:r>
            <a:r>
              <a:rPr lang="el-GR" dirty="0" err="1"/>
              <a:t>loop</a:t>
            </a:r>
            <a:r>
              <a:rPr lang="el-GR" dirty="0"/>
              <a:t>.</a:t>
            </a:r>
            <a:endParaRPr lang="en-US" dirty="0"/>
          </a:p>
          <a:p>
            <a:pPr algn="just">
              <a:defRPr sz="1800"/>
            </a:pPr>
            <a:endParaRPr lang="en-US" dirty="0"/>
          </a:p>
          <a:p>
            <a:pPr algn="just">
              <a:defRPr sz="1800"/>
            </a:pPr>
            <a:r>
              <a:rPr dirty="0"/>
              <a:t>• Enable efficient multi-threaded execution through ROOT's C++ backend.</a:t>
            </a:r>
            <a:endParaRPr lang="en-US" dirty="0"/>
          </a:p>
          <a:p>
            <a:pPr algn="just">
              <a:defRPr sz="1800"/>
            </a:pPr>
            <a:endParaRPr dirty="0"/>
          </a:p>
          <a:p>
            <a:pPr algn="just">
              <a:defRPr sz="1800"/>
            </a:pPr>
            <a:r>
              <a:rPr dirty="0"/>
              <a:t>•</a:t>
            </a:r>
            <a:r>
              <a:rPr lang="en-US" dirty="0"/>
              <a:t> </a:t>
            </a:r>
            <a:r>
              <a:rPr lang="el-GR" dirty="0" err="1"/>
              <a:t>Python</a:t>
            </a:r>
            <a:r>
              <a:rPr lang="el-GR" dirty="0"/>
              <a:t> </a:t>
            </a:r>
            <a:r>
              <a:rPr lang="el-GR" dirty="0" err="1"/>
              <a:t>is</a:t>
            </a:r>
            <a:r>
              <a:rPr lang="el-GR" dirty="0"/>
              <a:t> </a:t>
            </a:r>
            <a:r>
              <a:rPr lang="el-GR" dirty="0" err="1"/>
              <a:t>used</a:t>
            </a:r>
            <a:r>
              <a:rPr lang="el-GR" dirty="0"/>
              <a:t> for the </a:t>
            </a:r>
            <a:r>
              <a:rPr lang="el-GR" dirty="0" err="1"/>
              <a:t>overall</a:t>
            </a:r>
            <a:r>
              <a:rPr lang="el-GR" dirty="0"/>
              <a:t> </a:t>
            </a:r>
            <a:r>
              <a:rPr lang="el-GR" dirty="0" err="1"/>
              <a:t>workflow</a:t>
            </a:r>
            <a:r>
              <a:rPr lang="el-GR" dirty="0"/>
              <a:t> and </a:t>
            </a:r>
            <a:r>
              <a:rPr lang="el-GR" dirty="0" err="1"/>
              <a:t>setup</a:t>
            </a:r>
            <a:r>
              <a:rPr lang="el-GR" dirty="0"/>
              <a:t>, </a:t>
            </a:r>
            <a:r>
              <a:rPr lang="el-GR" dirty="0" err="1"/>
              <a:t>while</a:t>
            </a:r>
            <a:r>
              <a:rPr lang="el-GR" dirty="0"/>
              <a:t> the </a:t>
            </a:r>
            <a:r>
              <a:rPr lang="el-GR" dirty="0" err="1"/>
              <a:t>event</a:t>
            </a:r>
            <a:r>
              <a:rPr lang="el-GR" dirty="0"/>
              <a:t> </a:t>
            </a:r>
            <a:r>
              <a:rPr lang="el-GR" dirty="0" err="1"/>
              <a:t>processing</a:t>
            </a:r>
            <a:r>
              <a:rPr lang="el-GR" dirty="0"/>
              <a:t> </a:t>
            </a:r>
            <a:r>
              <a:rPr lang="el-GR" dirty="0" err="1"/>
              <a:t>is</a:t>
            </a:r>
            <a:r>
              <a:rPr lang="el-GR" dirty="0"/>
              <a:t> </a:t>
            </a:r>
            <a:r>
              <a:rPr lang="el-GR" dirty="0" err="1"/>
              <a:t>done</a:t>
            </a:r>
            <a:r>
              <a:rPr lang="el-GR" dirty="0"/>
              <a:t> in </a:t>
            </a:r>
            <a:r>
              <a:rPr lang="el-GR" dirty="0" err="1"/>
              <a:t>ROOT's</a:t>
            </a:r>
            <a:r>
              <a:rPr lang="el-GR" dirty="0"/>
              <a:t> </a:t>
            </a:r>
            <a:r>
              <a:rPr lang="el-GR" dirty="0" err="1"/>
              <a:t>multi-threaded</a:t>
            </a:r>
            <a:r>
              <a:rPr lang="el-GR" dirty="0"/>
              <a:t> C++ </a:t>
            </a:r>
            <a:r>
              <a:rPr lang="el-GR" dirty="0" err="1"/>
              <a:t>backend</a:t>
            </a:r>
            <a:r>
              <a:rPr lang="el-GR" dirty="0"/>
              <a:t>.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94C95D-3B9E-EDA3-2163-F8467233A297}"/>
              </a:ext>
            </a:extLst>
          </p:cNvPr>
          <p:cNvSpPr txBox="1"/>
          <p:nvPr/>
        </p:nvSpPr>
        <p:spPr>
          <a:xfrm>
            <a:off x="5844294" y="2286983"/>
            <a:ext cx="634770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dirty="0"/>
              <a:t>Implemented Helpers</a:t>
            </a:r>
          </a:p>
          <a:p>
            <a:pPr algn="just">
              <a:defRPr sz="1800"/>
            </a:pPr>
            <a:r>
              <a:rPr dirty="0"/>
              <a:t>• Detector identification (</a:t>
            </a:r>
            <a:r>
              <a:rPr dirty="0" err="1"/>
              <a:t>GetDetectorName</a:t>
            </a:r>
            <a:r>
              <a:rPr dirty="0"/>
              <a:t>)</a:t>
            </a:r>
          </a:p>
          <a:p>
            <a:pPr algn="just">
              <a:defRPr sz="1800"/>
            </a:pPr>
            <a:r>
              <a:rPr dirty="0"/>
              <a:t>• Run/</a:t>
            </a:r>
            <a:r>
              <a:rPr dirty="0" err="1"/>
              <a:t>Subrun</a:t>
            </a:r>
            <a:r>
              <a:rPr dirty="0"/>
              <a:t> extraction from filenames</a:t>
            </a:r>
          </a:p>
          <a:p>
            <a:pPr algn="just">
              <a:defRPr sz="1800"/>
            </a:pPr>
            <a:r>
              <a:rPr dirty="0"/>
              <a:t>• Smart vector filtering for </a:t>
            </a:r>
            <a:r>
              <a:rPr dirty="0" err="1"/>
              <a:t>RVec</a:t>
            </a:r>
            <a:r>
              <a:rPr dirty="0"/>
              <a:t> columns</a:t>
            </a:r>
          </a:p>
          <a:p>
            <a:pPr algn="just">
              <a:defRPr sz="1800"/>
            </a:pPr>
            <a:r>
              <a:rPr dirty="0"/>
              <a:t>• Mask broadcasting and validation</a:t>
            </a:r>
            <a:endParaRPr lang="en-US" dirty="0"/>
          </a:p>
          <a:p>
            <a:pPr algn="just">
              <a:defRPr sz="1800"/>
            </a:pPr>
            <a:br>
              <a:rPr dirty="0"/>
            </a:br>
            <a:r>
              <a:rPr dirty="0"/>
              <a:t>Result: Fast, reusable C++ primitives that seamlessly integrate with Python and </a:t>
            </a:r>
            <a:r>
              <a:rPr dirty="0" err="1"/>
              <a:t>RDataFrame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243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271CE-3A94-2FA5-6FDC-25CA1E71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9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ED0302-A20B-D57B-B615-B5A46E6F4A7F}"/>
              </a:ext>
            </a:extLst>
          </p:cNvPr>
          <p:cNvSpPr txBox="1"/>
          <p:nvPr/>
        </p:nvSpPr>
        <p:spPr>
          <a:xfrm>
            <a:off x="4218530" y="214834"/>
            <a:ext cx="375493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 err="1"/>
              <a:t>RDataFrame</a:t>
            </a:r>
            <a:r>
              <a:rPr dirty="0"/>
              <a:t> Helper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B6446D-7E99-D83E-3D5E-B44E7C368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23" y="5427373"/>
            <a:ext cx="8405588" cy="76206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497CBB-89EF-A569-324D-F3671E289676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2979174" y="2755970"/>
            <a:ext cx="4454013" cy="3052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E8237D4-4A19-2D50-E519-4A6AE14DC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187" y="1793335"/>
            <a:ext cx="4641047" cy="192526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6E3B31-36F6-81F8-3659-933EF684B061}"/>
              </a:ext>
            </a:extLst>
          </p:cNvPr>
          <p:cNvSpPr txBox="1"/>
          <p:nvPr/>
        </p:nvSpPr>
        <p:spPr>
          <a:xfrm>
            <a:off x="236416" y="2446548"/>
            <a:ext cx="474854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sz="2400" b="1" dirty="0"/>
              <a:t>Main Responsibilities</a:t>
            </a:r>
          </a:p>
          <a:p>
            <a:pPr>
              <a:defRPr sz="1600"/>
            </a:pPr>
            <a:r>
              <a:rPr lang="en-US" dirty="0"/>
              <a:t>• Resolve run specifications into ROOT files</a:t>
            </a:r>
          </a:p>
          <a:p>
            <a:pPr>
              <a:defRPr sz="1600"/>
            </a:pPr>
            <a:r>
              <a:rPr lang="en-US" dirty="0"/>
              <a:t>• Configure ROOT thread pool</a:t>
            </a:r>
          </a:p>
          <a:p>
            <a:pPr>
              <a:defRPr sz="1600"/>
            </a:pPr>
            <a:r>
              <a:rPr lang="en-US" dirty="0"/>
              <a:t>• Add Run/</a:t>
            </a:r>
            <a:r>
              <a:rPr lang="en-US" dirty="0" err="1"/>
              <a:t>Subrun</a:t>
            </a:r>
            <a:r>
              <a:rPr lang="en-US" dirty="0"/>
              <a:t> metadata from filenames</a:t>
            </a:r>
          </a:p>
          <a:p>
            <a:pPr>
              <a:defRPr sz="1600"/>
            </a:pPr>
            <a:r>
              <a:rPr lang="en-US" dirty="0"/>
              <a:t>• Apply smart scalar and </a:t>
            </a:r>
            <a:r>
              <a:rPr lang="en-US" dirty="0" err="1"/>
              <a:t>RVec</a:t>
            </a:r>
            <a:r>
              <a:rPr lang="en-US" dirty="0"/>
              <a:t> cuts</a:t>
            </a:r>
          </a:p>
          <a:p>
            <a:pPr>
              <a:defRPr sz="1600"/>
            </a:pPr>
            <a:r>
              <a:rPr lang="en-US" dirty="0"/>
              <a:t>• Create derived columns for straight coincidences</a:t>
            </a:r>
          </a:p>
        </p:txBody>
      </p:sp>
    </p:spTree>
    <p:extLst>
      <p:ext uri="{BB962C8B-B14F-4D97-AF65-F5344CB8AC3E}">
        <p14:creationId xmlns:p14="http://schemas.microsoft.com/office/powerpoint/2010/main" val="341627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D8110-F71D-8F84-4C34-DDE258F3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10</a:t>
            </a:fld>
            <a:endParaRPr lang="el-G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21C41E-5A9E-BB4C-9514-6C8A4422D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723" y="5310985"/>
            <a:ext cx="8466554" cy="739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7F3822-6B48-C777-9A46-94DDA272B713}"/>
              </a:ext>
            </a:extLst>
          </p:cNvPr>
          <p:cNvSpPr txBox="1"/>
          <p:nvPr/>
        </p:nvSpPr>
        <p:spPr>
          <a:xfrm>
            <a:off x="4434840" y="126344"/>
            <a:ext cx="3322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Histogram Helper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DC464D-95C0-F5E4-8DCA-A7A3BB4DDE64}"/>
              </a:ext>
            </a:extLst>
          </p:cNvPr>
          <p:cNvSpPr txBox="1"/>
          <p:nvPr/>
        </p:nvSpPr>
        <p:spPr>
          <a:xfrm>
            <a:off x="236416" y="2446548"/>
            <a:ext cx="4738708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sz="2400" b="1" dirty="0"/>
              <a:t>Main Responsibilities</a:t>
            </a:r>
            <a:endParaRPr lang="en-US" dirty="0"/>
          </a:p>
          <a:p>
            <a:pPr algn="just">
              <a:defRPr sz="1600"/>
            </a:pPr>
            <a:r>
              <a:rPr lang="en-US" dirty="0"/>
              <a:t>• Parse 1D/2D quantity expressions</a:t>
            </a:r>
          </a:p>
          <a:p>
            <a:pPr algn="just">
              <a:defRPr sz="1600"/>
            </a:pPr>
            <a:r>
              <a:rPr lang="en-US" dirty="0"/>
              <a:t>• Resolve histogram settings from configuration</a:t>
            </a:r>
          </a:p>
          <a:p>
            <a:pPr algn="just">
              <a:defRPr sz="1600"/>
            </a:pPr>
            <a:r>
              <a:rPr lang="en-US" dirty="0"/>
              <a:t>• Create ROOT TH1/TH2 histograms with </a:t>
            </a:r>
            <a:r>
              <a:rPr lang="en-US" dirty="0" err="1"/>
              <a:t>RDataFrame</a:t>
            </a:r>
            <a:endParaRPr lang="en-US" dirty="0"/>
          </a:p>
          <a:p>
            <a:pPr algn="just">
              <a:defRPr sz="1600"/>
            </a:pPr>
            <a:r>
              <a:rPr lang="en-US" dirty="0"/>
              <a:t>• Support multiple datasets simultaneously</a:t>
            </a:r>
          </a:p>
          <a:p>
            <a:pPr algn="just">
              <a:defRPr sz="1600"/>
            </a:pPr>
            <a:r>
              <a:rPr lang="en-US" dirty="0"/>
              <a:t>• Apply normalization, lifetime and background corrections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04F58F-8157-4BD8-8CF3-23A532BD0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36" t="6308" r="33790" b="4230"/>
          <a:stretch>
            <a:fillRect/>
          </a:stretch>
        </p:blipFill>
        <p:spPr>
          <a:xfrm>
            <a:off x="5337056" y="837482"/>
            <a:ext cx="2794221" cy="44253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CE9E83-BA72-DD5F-8D28-B750BDAE9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66451" b="5586"/>
          <a:stretch>
            <a:fillRect/>
          </a:stretch>
        </p:blipFill>
        <p:spPr>
          <a:xfrm>
            <a:off x="8237321" y="2446548"/>
            <a:ext cx="3646373" cy="271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72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08A62-9713-70F0-3ADB-FD6D9773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11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81E49-24D9-D892-288D-D9D844E471B1}"/>
              </a:ext>
            </a:extLst>
          </p:cNvPr>
          <p:cNvSpPr txBox="1"/>
          <p:nvPr/>
        </p:nvSpPr>
        <p:spPr>
          <a:xfrm>
            <a:off x="4611132" y="196547"/>
            <a:ext cx="296973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51437"/>
                </a:solidFill>
              </a:defRPr>
            </a:pPr>
            <a:r>
              <a:rPr dirty="0"/>
              <a:t>Canvas Helper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D5313E-9353-27F5-9E93-635D31FA2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39" y="5109543"/>
            <a:ext cx="8306520" cy="8077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D4D9F1-4964-AE15-B6A1-71945D173E5C}"/>
              </a:ext>
            </a:extLst>
          </p:cNvPr>
          <p:cNvSpPr txBox="1"/>
          <p:nvPr/>
        </p:nvSpPr>
        <p:spPr>
          <a:xfrm>
            <a:off x="324906" y="2367889"/>
            <a:ext cx="5426521" cy="2518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sz="2400" b="1" dirty="0"/>
              <a:t>Main Responsibilities</a:t>
            </a:r>
            <a:endParaRPr lang="en-US" dirty="0"/>
          </a:p>
          <a:p>
            <a:pPr algn="just">
              <a:spcAft>
                <a:spcPts val="5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Builds one ROOT </a:t>
            </a:r>
            <a:r>
              <a:rPr lang="en-US" dirty="0" err="1"/>
              <a:t>TCanvas</a:t>
            </a:r>
            <a:r>
              <a:rPr lang="en-US" dirty="0"/>
              <a:t> with one pad per selected quantity</a:t>
            </a:r>
          </a:p>
          <a:p>
            <a:pPr algn="just">
              <a:spcAft>
                <a:spcPts val="5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Handles colors, markers, grids, ticks and legends</a:t>
            </a:r>
          </a:p>
          <a:p>
            <a:pPr algn="just">
              <a:spcAft>
                <a:spcPts val="5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Supports normalized and non-normalized y-axis labels</a:t>
            </a:r>
          </a:p>
          <a:p>
            <a:pPr algn="just">
              <a:spcAft>
                <a:spcPts val="5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Creates separate canvases for each 2D expression</a:t>
            </a:r>
          </a:p>
          <a:p>
            <a:pPr algn="just">
              <a:spcAft>
                <a:spcPts val="5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Uses safe ROOT names for dynamically generated canvas objects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676993-2CBB-A123-68C4-8C1B5E624E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664"/>
          <a:stretch>
            <a:fillRect/>
          </a:stretch>
        </p:blipFill>
        <p:spPr>
          <a:xfrm>
            <a:off x="6258738" y="2144873"/>
            <a:ext cx="5166643" cy="274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5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54EC0-B142-8563-8BB7-8D73C7E6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12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D4FE3-96C2-7063-9106-E492E6A7C2F0}"/>
              </a:ext>
            </a:extLst>
          </p:cNvPr>
          <p:cNvSpPr txBox="1"/>
          <p:nvPr/>
        </p:nvSpPr>
        <p:spPr>
          <a:xfrm>
            <a:off x="4213614" y="214835"/>
            <a:ext cx="37647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Coincidence Helper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E3680-C790-01D2-7F5A-63803374FB37}"/>
              </a:ext>
            </a:extLst>
          </p:cNvPr>
          <p:cNvSpPr txBox="1"/>
          <p:nvPr/>
        </p:nvSpPr>
        <p:spPr>
          <a:xfrm>
            <a:off x="6845537" y="2014612"/>
            <a:ext cx="52286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dirty="0"/>
              <a:t>• Filter requested detector combinations</a:t>
            </a:r>
          </a:p>
          <a:p>
            <a:pPr>
              <a:defRPr sz="1600"/>
            </a:pPr>
            <a:r>
              <a:rPr dirty="0"/>
              <a:t>• Group rows by run, </a:t>
            </a:r>
            <a:r>
              <a:rPr dirty="0" err="1"/>
              <a:t>subrun</a:t>
            </a:r>
            <a:r>
              <a:rPr dirty="0"/>
              <a:t> and event</a:t>
            </a:r>
          </a:p>
          <a:p>
            <a:pPr>
              <a:defRPr sz="1600"/>
            </a:pPr>
            <a:r>
              <a:rPr dirty="0"/>
              <a:t>• Require each detector exactly once</a:t>
            </a:r>
          </a:p>
          <a:p>
            <a:pPr>
              <a:defRPr sz="1600"/>
            </a:pPr>
            <a:r>
              <a:rPr dirty="0"/>
              <a:t>• Compute coincidence average time from detector pairs</a:t>
            </a:r>
          </a:p>
          <a:p>
            <a:pPr>
              <a:defRPr sz="1600"/>
            </a:pPr>
            <a:r>
              <a:rPr dirty="0"/>
              <a:t>• Automatically determine histogram ranges and labels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900A49-2180-4200-53C7-0E74F5481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77" y="2123767"/>
            <a:ext cx="6622027" cy="441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23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AA812-E06D-2E5F-827A-4694E88F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13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5F42C-F8C6-EFCC-9DF7-54E009A62A71}"/>
              </a:ext>
            </a:extLst>
          </p:cNvPr>
          <p:cNvSpPr txBox="1"/>
          <p:nvPr/>
        </p:nvSpPr>
        <p:spPr>
          <a:xfrm>
            <a:off x="4326685" y="263996"/>
            <a:ext cx="35386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TRAM Build Helper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40203-51CA-4826-E1AE-119583F70501}"/>
              </a:ext>
            </a:extLst>
          </p:cNvPr>
          <p:cNvSpPr txBox="1"/>
          <p:nvPr/>
        </p:nvSpPr>
        <p:spPr>
          <a:xfrm>
            <a:off x="200578" y="2218157"/>
            <a:ext cx="5433306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/>
            </a:pPr>
            <a:r>
              <a:rPr dirty="0"/>
              <a:t>Key Responsibilities</a:t>
            </a:r>
          </a:p>
          <a:p>
            <a:pPr>
              <a:defRPr sz="1700"/>
            </a:pPr>
            <a:r>
              <a:rPr dirty="0"/>
              <a:t>• Validate TRAM project and </a:t>
            </a:r>
            <a:r>
              <a:rPr dirty="0" err="1"/>
              <a:t>CMake</a:t>
            </a:r>
            <a:r>
              <a:rPr dirty="0"/>
              <a:t> configuration</a:t>
            </a:r>
          </a:p>
          <a:p>
            <a:pPr>
              <a:defRPr sz="1700"/>
            </a:pPr>
            <a:r>
              <a:rPr dirty="0"/>
              <a:t>• Automatically configure and build the project</a:t>
            </a:r>
          </a:p>
          <a:p>
            <a:pPr>
              <a:defRPr sz="1700"/>
            </a:pPr>
            <a:r>
              <a:rPr dirty="0"/>
              <a:t>• Generate unique ROOT output files</a:t>
            </a:r>
          </a:p>
          <a:p>
            <a:pPr>
              <a:defRPr sz="1700"/>
            </a:pPr>
            <a:r>
              <a:rPr dirty="0"/>
              <a:t>• Execute volume-cut commands</a:t>
            </a:r>
          </a:p>
          <a:p>
            <a:pPr>
              <a:defRPr sz="1700"/>
            </a:pPr>
            <a:r>
              <a:rPr dirty="0"/>
              <a:t>• Load output </a:t>
            </a:r>
            <a:r>
              <a:rPr dirty="0" err="1"/>
              <a:t>TTrees</a:t>
            </a:r>
            <a:r>
              <a:rPr dirty="0"/>
              <a:t> directly into memory</a:t>
            </a:r>
          </a:p>
          <a:p>
            <a:pPr>
              <a:defRPr sz="1700"/>
            </a:pPr>
            <a:r>
              <a:rPr dirty="0"/>
              <a:t>• Clean up temporary files automatically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C3DE7A-47CA-A990-154C-8988A6BA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561" y="1914831"/>
            <a:ext cx="6028403" cy="401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00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373AB-4387-C289-F3A3-C5734487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14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81B442-EEF6-8AC1-D0C9-EA1A0A89D46C}"/>
              </a:ext>
            </a:extLst>
          </p:cNvPr>
          <p:cNvSpPr txBox="1"/>
          <p:nvPr/>
        </p:nvSpPr>
        <p:spPr>
          <a:xfrm>
            <a:off x="3633265" y="303325"/>
            <a:ext cx="49254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lang="en-US" dirty="0"/>
              <a:t>Load Data to </a:t>
            </a:r>
            <a:r>
              <a:rPr lang="en-US" dirty="0" err="1"/>
              <a:t>RDataFrame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1BD1E-4E58-B690-1F72-63D78DC4C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178" y="1253614"/>
            <a:ext cx="6875643" cy="458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77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78E50-0567-354C-2988-73FA0B0E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15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B1E9E-015B-1049-B538-598B08C5DF93}"/>
              </a:ext>
            </a:extLst>
          </p:cNvPr>
          <p:cNvSpPr txBox="1"/>
          <p:nvPr/>
        </p:nvSpPr>
        <p:spPr>
          <a:xfrm>
            <a:off x="2753033" y="283660"/>
            <a:ext cx="66859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lang="en-US" dirty="0"/>
              <a:t>Plot Detector Data from Loaf files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BDAEDC-9C8B-B4DF-DD9E-A4E269F8E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1178808"/>
            <a:ext cx="7345882" cy="490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900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C39F90-C060-7E26-82EE-364BC3F5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16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8D1C1-BF88-12ED-AC6B-69F255C9620A}"/>
              </a:ext>
            </a:extLst>
          </p:cNvPr>
          <p:cNvSpPr txBox="1"/>
          <p:nvPr/>
        </p:nvSpPr>
        <p:spPr>
          <a:xfrm>
            <a:off x="3254478" y="293493"/>
            <a:ext cx="56830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lang="en-US" dirty="0"/>
              <a:t>Plot Data from Loaf &amp; Tram files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E58848-99E4-C095-DBB8-3F0947047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94" y="1024933"/>
            <a:ext cx="7616612" cy="508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44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155A0-352E-B6FE-10D3-3E97EC311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17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4A5AE0-A183-76DE-FC81-F61512CE22CC}"/>
              </a:ext>
            </a:extLst>
          </p:cNvPr>
          <p:cNvSpPr txBox="1"/>
          <p:nvPr/>
        </p:nvSpPr>
        <p:spPr>
          <a:xfrm>
            <a:off x="2129743" y="166172"/>
            <a:ext cx="776661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lang="en-US" dirty="0"/>
              <a:t>Get Loaf Histograms &amp; Plot Loaf Histograms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3E775-E0B0-8974-5448-E4D2C1A11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445" y="937008"/>
            <a:ext cx="7471109" cy="498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17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81C44-07B0-830E-EBAE-34BF156BE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18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131EA-AA00-5DBD-44DC-2320145CC30F}"/>
              </a:ext>
            </a:extLst>
          </p:cNvPr>
          <p:cNvSpPr txBox="1"/>
          <p:nvPr/>
        </p:nvSpPr>
        <p:spPr>
          <a:xfrm>
            <a:off x="4607592" y="318883"/>
            <a:ext cx="29768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lang="en-US" dirty="0"/>
              <a:t>Clear Results</a:t>
            </a:r>
            <a:endParaRPr dirty="0"/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22F16465-2A34-8947-DC72-08FF62E3121C}"/>
              </a:ext>
            </a:extLst>
          </p:cNvPr>
          <p:cNvSpPr/>
          <p:nvPr/>
        </p:nvSpPr>
        <p:spPr>
          <a:xfrm>
            <a:off x="731520" y="5394960"/>
            <a:ext cx="10789920" cy="685800"/>
          </a:xfrm>
          <a:prstGeom prst="roundRect">
            <a:avLst/>
          </a:prstGeom>
          <a:solidFill>
            <a:srgbClr val="EBF8EB"/>
          </a:solidFill>
          <a:ln>
            <a:solidFill>
              <a:srgbClr val="46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B7CB2-80C2-C756-F767-5A443C79625C}"/>
              </a:ext>
            </a:extLst>
          </p:cNvPr>
          <p:cNvSpPr txBox="1"/>
          <p:nvPr/>
        </p:nvSpPr>
        <p:spPr>
          <a:xfrm>
            <a:off x="914400" y="5472312"/>
            <a:ext cx="10546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5A1E"/>
                </a:solidFill>
              </a:defRPr>
            </a:pPr>
            <a:r>
              <a:rPr dirty="0"/>
              <a:t>✓ Best Practice: Call </a:t>
            </a:r>
            <a:r>
              <a:rPr dirty="0" err="1"/>
              <a:t>exit_detector_data</a:t>
            </a:r>
            <a:r>
              <a:rPr dirty="0"/>
              <a:t>() at the end of every notebook or analysis script to ensure all ROOT resources are released before the next execution.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91393C-9735-63CB-6D68-C3E8122DE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63077"/>
              </p:ext>
            </p:extLst>
          </p:nvPr>
        </p:nvGraphicFramePr>
        <p:xfrm>
          <a:off x="2346960" y="1597905"/>
          <a:ext cx="7498080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 b="1"/>
                      </a:pPr>
                      <a:r>
                        <a:t>Benefit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Release ROOT objects and canvases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Frees memory after each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Prevent memory leaks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Keeps repeated analyses stable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Close temporary ROOT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Removes unused in-memory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Disable implicit multithreadin</a:t>
                      </a:r>
                      <a:r>
                        <a:rPr lang="en-US" dirty="0"/>
                        <a:t>g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rPr dirty="0"/>
                        <a:t>Useful when multithreading is not needed or causes conflicts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588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F2A06-2926-C936-AE50-3D6379A15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l-GR" dirty="0"/>
              <a:t>Live </a:t>
            </a:r>
            <a:r>
              <a:rPr lang="el-GR" dirty="0" err="1"/>
              <a:t>Demonstration</a:t>
            </a:r>
            <a:endParaRPr lang="el-G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5D544-5809-50BF-3B9C-5600F106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19107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8D289-D0ED-3BB6-111F-06BA6D85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20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8496A5-4798-0972-AD77-124F20A67A87}"/>
              </a:ext>
            </a:extLst>
          </p:cNvPr>
          <p:cNvSpPr txBox="1"/>
          <p:nvPr/>
        </p:nvSpPr>
        <p:spPr>
          <a:xfrm>
            <a:off x="4193701" y="284158"/>
            <a:ext cx="397802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Future Development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0AB94B-A6FD-8204-C578-1B5B376CBA47}"/>
              </a:ext>
            </a:extLst>
          </p:cNvPr>
          <p:cNvSpPr txBox="1"/>
          <p:nvPr/>
        </p:nvSpPr>
        <p:spPr>
          <a:xfrm>
            <a:off x="1976144" y="1225412"/>
            <a:ext cx="5630644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lang="en-US" dirty="0"/>
              <a:t>1) </a:t>
            </a:r>
            <a:r>
              <a:rPr lang="en-US" dirty="0" err="1"/>
              <a:t>mu</a:t>
            </a:r>
            <a:r>
              <a:rPr dirty="0" err="1"/>
              <a:t>SR</a:t>
            </a:r>
            <a:r>
              <a:rPr dirty="0"/>
              <a:t> Automatic Analysis</a:t>
            </a:r>
          </a:p>
          <a:p>
            <a:pPr>
              <a:defRPr sz="1300"/>
            </a:pPr>
            <a:r>
              <a:rPr dirty="0"/>
              <a:t>Automatically generate </a:t>
            </a:r>
            <a:r>
              <a:rPr lang="en-US" dirty="0" err="1"/>
              <a:t>mu</a:t>
            </a:r>
            <a:r>
              <a:rPr dirty="0" err="1"/>
              <a:t>SR</a:t>
            </a:r>
            <a:r>
              <a:rPr dirty="0"/>
              <a:t> plots when the required condition is detected.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95741-5EBC-4CAC-C0C7-9651742C731B}"/>
              </a:ext>
            </a:extLst>
          </p:cNvPr>
          <p:cNvSpPr txBox="1"/>
          <p:nvPr/>
        </p:nvSpPr>
        <p:spPr>
          <a:xfrm>
            <a:off x="1976144" y="1812723"/>
            <a:ext cx="18501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lang="en-US" dirty="0"/>
              <a:t>2) </a:t>
            </a:r>
            <a:r>
              <a:rPr dirty="0"/>
              <a:t>Ranging Plots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6AE08-F94F-5559-EFF8-21BC8CAFA7E9}"/>
              </a:ext>
            </a:extLst>
          </p:cNvPr>
          <p:cNvSpPr txBox="1"/>
          <p:nvPr/>
        </p:nvSpPr>
        <p:spPr>
          <a:xfrm>
            <a:off x="1976144" y="2290283"/>
            <a:ext cx="7493783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lang="en-US" dirty="0"/>
              <a:t>3) </a:t>
            </a:r>
            <a:r>
              <a:rPr dirty="0"/>
              <a:t>Histogram Algebra</a:t>
            </a:r>
          </a:p>
          <a:p>
            <a:pPr>
              <a:defRPr sz="1300"/>
            </a:pPr>
            <a:r>
              <a:rPr dirty="0"/>
              <a:t>Direct addition, subtraction and arithmetic operations between histograms without manual extraction.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75245-6CC0-E32E-6BE4-64FFD9D656C2}"/>
              </a:ext>
            </a:extLst>
          </p:cNvPr>
          <p:cNvSpPr txBox="1"/>
          <p:nvPr/>
        </p:nvSpPr>
        <p:spPr>
          <a:xfrm>
            <a:off x="1976144" y="2967898"/>
            <a:ext cx="94165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lang="en-US" dirty="0"/>
              <a:t>4) </a:t>
            </a:r>
            <a:r>
              <a:rPr dirty="0"/>
              <a:t>Live Monitoring Web Dashboard</a:t>
            </a:r>
          </a:p>
          <a:p>
            <a:pPr>
              <a:defRPr sz="1300"/>
            </a:pPr>
            <a:r>
              <a:rPr dirty="0"/>
              <a:t>Web server that automatically updates after each completed run and displays online plots (e.g. </a:t>
            </a:r>
            <a:r>
              <a:rPr dirty="0" err="1"/>
              <a:t>hitmaps</a:t>
            </a:r>
            <a:r>
              <a:rPr dirty="0"/>
              <a:t>, scintillators), potentially using the ROOT Web Server.</a:t>
            </a:r>
          </a:p>
        </p:txBody>
      </p:sp>
    </p:spTree>
    <p:extLst>
      <p:ext uri="{BB962C8B-B14F-4D97-AF65-F5344CB8AC3E}">
        <p14:creationId xmlns:p14="http://schemas.microsoft.com/office/powerpoint/2010/main" val="3691131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0AAED3-3007-0998-1F66-5253D58E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21</a:t>
            </a:fld>
            <a:endParaRPr lang="el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1EA7DE-9A47-8C36-441E-B79FA98036CA}"/>
              </a:ext>
            </a:extLst>
          </p:cNvPr>
          <p:cNvSpPr txBox="1">
            <a:spLocks/>
          </p:cNvSpPr>
          <p:nvPr/>
        </p:nvSpPr>
        <p:spPr>
          <a:xfrm>
            <a:off x="838199" y="1446704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Thank you!!!</a:t>
            </a:r>
            <a:endParaRPr lang="el-GR" dirty="0"/>
          </a:p>
        </p:txBody>
      </p:sp>
      <p:pic>
        <p:nvPicPr>
          <p:cNvPr id="6" name="Picture 5" descr="Squidward finishes his work - SpongeBob Clip">
            <a:extLst>
              <a:ext uri="{FF2B5EF4-FFF2-40B4-BE49-F238E27FC236}">
                <a16:creationId xmlns:a16="http://schemas.microsoft.com/office/drawing/2014/main" id="{C7E5AFC4-FF4F-6208-7D30-0B086D9D4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839" y="2772267"/>
            <a:ext cx="3722319" cy="278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84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512E9-4B93-F584-0C63-39C68ED1C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22</a:t>
            </a:fld>
            <a:endParaRPr lang="el-G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6F1FF-CA92-C942-FC77-7207B69C9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Backup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89994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86C02-09A2-1B0B-6290-A4C417A07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D06-98B3-4E66-9B88-29B923600892}" type="slidenum">
              <a:rPr lang="el-GR" smtClean="0"/>
              <a:t>23</a:t>
            </a:fld>
            <a:endParaRPr lang="el-G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E196F-3B04-AE11-6E67-DE19997DCDF1}"/>
              </a:ext>
            </a:extLst>
          </p:cNvPr>
          <p:cNvSpPr txBox="1"/>
          <p:nvPr/>
        </p:nvSpPr>
        <p:spPr>
          <a:xfrm>
            <a:off x="4768448" y="196547"/>
            <a:ext cx="265510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51437"/>
                </a:solidFill>
              </a:defRPr>
            </a:pPr>
            <a:r>
              <a:rPr dirty="0"/>
              <a:t>Mount Helper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C3D6AD-7B28-D443-A60D-A1498AC319FC}"/>
              </a:ext>
            </a:extLst>
          </p:cNvPr>
          <p:cNvSpPr txBox="1"/>
          <p:nvPr/>
        </p:nvSpPr>
        <p:spPr>
          <a:xfrm>
            <a:off x="200577" y="2264369"/>
            <a:ext cx="463689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2200" b="1"/>
            </a:pPr>
            <a:r>
              <a:rPr dirty="0"/>
              <a:t>Why </a:t>
            </a:r>
            <a:r>
              <a:rPr lang="en-US" dirty="0"/>
              <a:t>Mounting</a:t>
            </a:r>
            <a:r>
              <a:rPr dirty="0"/>
              <a:t> Helpers?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Automatically mounts the remote SFTP data location (or a specific local directory)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Hides connection details from analysis notebooks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Checks that the target ROOT-file directory exists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Reports number and total size of available .root files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dirty="0"/>
              <a:t>• Provides clear </a:t>
            </a:r>
            <a:r>
              <a:rPr lang="en-US" dirty="0" err="1"/>
              <a:t>MountError</a:t>
            </a:r>
            <a:r>
              <a:rPr lang="en-US" dirty="0"/>
              <a:t> / </a:t>
            </a:r>
            <a:r>
              <a:rPr lang="en-US" dirty="0" err="1"/>
              <a:t>DataFrameError</a:t>
            </a:r>
            <a:r>
              <a:rPr lang="en-US" dirty="0"/>
              <a:t> failures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5DC36F-4F80-193A-70DE-6264BC686D71}"/>
              </a:ext>
            </a:extLst>
          </p:cNvPr>
          <p:cNvSpPr txBox="1"/>
          <p:nvPr/>
        </p:nvSpPr>
        <p:spPr>
          <a:xfrm>
            <a:off x="6352523" y="2347236"/>
            <a:ext cx="5426521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lang="en-US" sz="2400" b="1" dirty="0"/>
              <a:t>Main Responsibilities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dirty="0"/>
              <a:t>• Builds the GVFS mount path from host and user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dirty="0"/>
              <a:t>• Uses </a:t>
            </a:r>
            <a:r>
              <a:rPr dirty="0" err="1"/>
              <a:t>gio</a:t>
            </a:r>
            <a:r>
              <a:rPr dirty="0"/>
              <a:t> mount with password handling through </a:t>
            </a:r>
            <a:r>
              <a:rPr dirty="0" err="1"/>
              <a:t>pexpect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dirty="0"/>
              <a:t>• Supports both remote mounted data and local directories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dirty="0"/>
              <a:t>• Prints a reusable ROOT-directory summary</a:t>
            </a:r>
          </a:p>
          <a:p>
            <a:pPr>
              <a:spcAft>
                <a:spcPts val="600"/>
              </a:spcAft>
              <a:defRPr sz="1600">
                <a:solidFill>
                  <a:srgbClr val="0A1937"/>
                </a:solidFill>
              </a:defRPr>
            </a:pPr>
            <a:r>
              <a:rPr dirty="0"/>
              <a:t>• Returns a validated local target directory for processing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BA7529-5E53-244D-353F-706475E78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7" y="5289348"/>
            <a:ext cx="8573243" cy="8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274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D2186B130FC3FC4B978332C7CA112A2B" ma:contentTypeVersion="6" ma:contentTypeDescription="Δημιουργία νέου εγγράφου" ma:contentTypeScope="" ma:versionID="ea810c0ee41df1b88ca6cee422720242">
  <xsd:schema xmlns:xsd="http://www.w3.org/2001/XMLSchema" xmlns:xs="http://www.w3.org/2001/XMLSchema" xmlns:p="http://schemas.microsoft.com/office/2006/metadata/properties" xmlns:ns3="9268c65c-65b3-4c95-b04d-394fcd99f611" targetNamespace="http://schemas.microsoft.com/office/2006/metadata/properties" ma:root="true" ma:fieldsID="2f4d873be518f50209ff47f73d4b6161" ns3:_="">
    <xsd:import namespace="9268c65c-65b3-4c95-b04d-394fcd99f6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68c65c-65b3-4c95-b04d-394fcd99f6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268c65c-65b3-4c95-b04d-394fcd99f611" xsi:nil="true"/>
  </documentManagement>
</p:properties>
</file>

<file path=customXml/itemProps1.xml><?xml version="1.0" encoding="utf-8"?>
<ds:datastoreItem xmlns:ds="http://schemas.openxmlformats.org/officeDocument/2006/customXml" ds:itemID="{9FA25F24-4FC3-43E4-8E7D-AF906AF48D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19312A-EBDD-4724-BD67-94CC9C62E4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68c65c-65b3-4c95-b04d-394fcd99f6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C9CF53-EE90-45AF-A0AD-4BB010621F71}">
  <ds:schemaRefs>
    <ds:schemaRef ds:uri="http://purl.org/dc/elements/1.1/"/>
    <ds:schemaRef ds:uri="http://www.w3.org/XML/1998/namespace"/>
    <ds:schemaRef ds:uri="9268c65c-65b3-4c95-b04d-394fcd99f611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1007</Words>
  <Application>Microsoft Office PowerPoint</Application>
  <PresentationFormat>Widescreen</PresentationFormat>
  <Paragraphs>183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Live Demonstration</vt:lpstr>
      <vt:lpstr>PowerPoint Presentation</vt:lpstr>
      <vt:lpstr>PowerPoint Presentation</vt:lpstr>
      <vt:lpstr>Backup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Κοσμας Φριτζαλας</dc:creator>
  <cp:lastModifiedBy>Κοσμας Φριτζαλας</cp:lastModifiedBy>
  <cp:revision>2</cp:revision>
  <dcterms:created xsi:type="dcterms:W3CDTF">2026-08-03T09:54:32Z</dcterms:created>
  <dcterms:modified xsi:type="dcterms:W3CDTF">2026-08-06T16:03:54Z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0x010100D2186B130FC3FC4B978332C7CA112A2B</vt:lpwstr>
  </property>
</Properties>
</file>